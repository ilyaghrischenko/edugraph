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5012f7079a4e09" /><Relationship Type="http://schemas.openxmlformats.org/officeDocument/2006/relationships/extended-properties" Target="/docProps/app.xml" Id="R73de3520d84b4692" /><Relationship Type="http://schemas.openxmlformats.org/officeDocument/2006/relationships/officeDocument" Target="/ppt/presentation.xml" Id="R157db283e14e41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e4088365204a28"/>
  </p:sldMasterIdLst>
  <p:notesMasterIdLst>
    <p:notesMasterId xmlns:r="http://schemas.openxmlformats.org/officeDocument/2006/relationships" r:id="R4bc90cf75a6945d5"/>
  </p:notesMasterIdLst>
  <p:sldIdLst>
    <p:sldId xmlns:r="http://schemas.openxmlformats.org/officeDocument/2006/relationships" id="256" r:id="R76a5467300514895"/>
    <p:sldId xmlns:r="http://schemas.openxmlformats.org/officeDocument/2006/relationships" id="257" r:id="Rc081fac47e954040"/>
    <p:sldId xmlns:r="http://schemas.openxmlformats.org/officeDocument/2006/relationships" id="258" r:id="Rceb2613a56954b4c"/>
    <p:sldId xmlns:r="http://schemas.openxmlformats.org/officeDocument/2006/relationships" id="259" r:id="Rcd16058ce1ed4ae4"/>
    <p:sldId xmlns:r="http://schemas.openxmlformats.org/officeDocument/2006/relationships" id="260" r:id="Rdb84b233760d435e"/>
    <p:sldId xmlns:r="http://schemas.openxmlformats.org/officeDocument/2006/relationships" id="261" r:id="R0e74a5eb43074ac1"/>
    <p:sldId xmlns:r="http://schemas.openxmlformats.org/officeDocument/2006/relationships" id="262" r:id="Rfc51c572468946fc"/>
    <p:sldId xmlns:r="http://schemas.openxmlformats.org/officeDocument/2006/relationships" id="263" r:id="Rd7a11316393742d9"/>
    <p:sldId xmlns:r="http://schemas.openxmlformats.org/officeDocument/2006/relationships" id="264" r:id="R8a44511027fb46ca"/>
    <p:sldId xmlns:r="http://schemas.openxmlformats.org/officeDocument/2006/relationships" id="265" r:id="R03aff4c998ab4324"/>
    <p:sldId xmlns:r="http://schemas.openxmlformats.org/officeDocument/2006/relationships" id="266" r:id="R1dab743d38c54437"/>
    <p:sldId xmlns:r="http://schemas.openxmlformats.org/officeDocument/2006/relationships" id="267" r:id="R332421d650be44af"/>
    <p:sldId xmlns:r="http://schemas.openxmlformats.org/officeDocument/2006/relationships" id="268" r:id="R2b49153624e14487"/>
    <p:sldId xmlns:r="http://schemas.openxmlformats.org/officeDocument/2006/relationships" id="269" r:id="Re8270608f2c44eab"/>
    <p:sldId xmlns:r="http://schemas.openxmlformats.org/officeDocument/2006/relationships" id="270" r:id="Rb05d8fb33da74c19"/>
    <p:sldId xmlns:r="http://schemas.openxmlformats.org/officeDocument/2006/relationships" id="271" r:id="R4464967204734770"/>
    <p:sldId xmlns:r="http://schemas.openxmlformats.org/officeDocument/2006/relationships" id="272" r:id="Rffe50edb402c42b8"/>
    <p:sldId xmlns:r="http://schemas.openxmlformats.org/officeDocument/2006/relationships" id="273" r:id="R9d8584e7c40a48e9"/>
    <p:sldId xmlns:r="http://schemas.openxmlformats.org/officeDocument/2006/relationships" id="274" r:id="Rdacb3e1e406240f9"/>
    <p:sldId xmlns:r="http://schemas.openxmlformats.org/officeDocument/2006/relationships" id="275" r:id="Rea09fd94dc894bf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e4088365204a28" /><Relationship Type="http://schemas.openxmlformats.org/officeDocument/2006/relationships/theme" Target="/ppt/theme/theme1.xml" Id="Re6e6523dd16d4bcd" /><Relationship Type="http://schemas.openxmlformats.org/officeDocument/2006/relationships/notesMaster" Target="/ppt/notesMasters/notesMaster1.xml" Id="R4bc90cf75a6945d5" /><Relationship Type="http://schemas.openxmlformats.org/officeDocument/2006/relationships/presProps" Target="/ppt/presProps.xml" Id="R694dcf4279f849ac" /><Relationship Type="http://schemas.openxmlformats.org/officeDocument/2006/relationships/viewProps" Target="/ppt/viewProps.xml" Id="Rfebf6378c0e94b03" /><Relationship Type="http://schemas.openxmlformats.org/officeDocument/2006/relationships/tableStyles" Target="/ppt/tableStyles.xml" Id="Reb2be861875e46a9" /><Relationship Type="http://schemas.openxmlformats.org/officeDocument/2006/relationships/slide" Target="/ppt/slides/slide1.xml" Id="R76a5467300514895" /><Relationship Type="http://schemas.openxmlformats.org/officeDocument/2006/relationships/slide" Target="/ppt/slides/slide2.xml" Id="Rc081fac47e954040" /><Relationship Type="http://schemas.openxmlformats.org/officeDocument/2006/relationships/slide" Target="/ppt/slides/slide3.xml" Id="Rceb2613a56954b4c" /><Relationship Type="http://schemas.openxmlformats.org/officeDocument/2006/relationships/slide" Target="/ppt/slides/slide4.xml" Id="Rcd16058ce1ed4ae4" /><Relationship Type="http://schemas.openxmlformats.org/officeDocument/2006/relationships/slide" Target="/ppt/slides/slide5.xml" Id="Rdb84b233760d435e" /><Relationship Type="http://schemas.openxmlformats.org/officeDocument/2006/relationships/slide" Target="/ppt/slides/slide6.xml" Id="R0e74a5eb43074ac1" /><Relationship Type="http://schemas.openxmlformats.org/officeDocument/2006/relationships/slide" Target="/ppt/slides/slide7.xml" Id="Rfc51c572468946fc" /><Relationship Type="http://schemas.openxmlformats.org/officeDocument/2006/relationships/slide" Target="/ppt/slides/slide8.xml" Id="Rd7a11316393742d9" /><Relationship Type="http://schemas.openxmlformats.org/officeDocument/2006/relationships/slide" Target="/ppt/slides/slide9.xml" Id="R8a44511027fb46ca" /><Relationship Type="http://schemas.openxmlformats.org/officeDocument/2006/relationships/slide" Target="/ppt/slides/slide10.xml" Id="R03aff4c998ab4324" /><Relationship Type="http://schemas.openxmlformats.org/officeDocument/2006/relationships/slide" Target="/ppt/slides/slide11.xml" Id="R1dab743d38c54437" /><Relationship Type="http://schemas.openxmlformats.org/officeDocument/2006/relationships/slide" Target="/ppt/slides/slide12.xml" Id="R332421d650be44af" /><Relationship Type="http://schemas.openxmlformats.org/officeDocument/2006/relationships/slide" Target="/ppt/slides/slide13.xml" Id="R2b49153624e14487" /><Relationship Type="http://schemas.openxmlformats.org/officeDocument/2006/relationships/slide" Target="/ppt/slides/slide14.xml" Id="Re8270608f2c44eab" /><Relationship Type="http://schemas.openxmlformats.org/officeDocument/2006/relationships/slide" Target="/ppt/slides/slide15.xml" Id="Rb05d8fb33da74c19" /><Relationship Type="http://schemas.openxmlformats.org/officeDocument/2006/relationships/slide" Target="/ppt/slides/slide16.xml" Id="R4464967204734770" /><Relationship Type="http://schemas.openxmlformats.org/officeDocument/2006/relationships/slide" Target="/ppt/slides/slide17.xml" Id="Rffe50edb402c42b8" /><Relationship Type="http://schemas.openxmlformats.org/officeDocument/2006/relationships/slide" Target="/ppt/slides/slide18.xml" Id="R9d8584e7c40a48e9" /><Relationship Type="http://schemas.openxmlformats.org/officeDocument/2006/relationships/slide" Target="/ppt/slides/slide19.xml" Id="Rdacb3e1e406240f9" /><Relationship Type="http://schemas.openxmlformats.org/officeDocument/2006/relationships/slide" Target="/ppt/slides/slide20.xml" Id="Rea09fd94dc894b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3aa38b6668747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888d68047c4867" /><Relationship Type="http://schemas.openxmlformats.org/officeDocument/2006/relationships/notesMaster" Target="/ppt/notesMasters/notesMaster1.xml" Id="R0232fcc9d9804a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5b43e18c4942a2" /><Relationship Type="http://schemas.openxmlformats.org/officeDocument/2006/relationships/notesMaster" Target="/ppt/notesMasters/notesMaster1.xml" Id="Rc84eb336874540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9729a0225b4198" /><Relationship Type="http://schemas.openxmlformats.org/officeDocument/2006/relationships/notesMaster" Target="/ppt/notesMasters/notesMaster1.xml" Id="R8ad88aa3f41b4a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0467313ded40c0" /><Relationship Type="http://schemas.openxmlformats.org/officeDocument/2006/relationships/notesMaster" Target="/ppt/notesMasters/notesMaster1.xml" Id="Rcfde261c0b6548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c860342d3d4e36" /><Relationship Type="http://schemas.openxmlformats.org/officeDocument/2006/relationships/notesMaster" Target="/ppt/notesMasters/notesMaster1.xml" Id="Re30a8cde325f4e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5c96804508415f" /><Relationship Type="http://schemas.openxmlformats.org/officeDocument/2006/relationships/notesMaster" Target="/ppt/notesMasters/notesMaster1.xml" Id="R42773522a5ff43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f854cf28fa4087" /><Relationship Type="http://schemas.openxmlformats.org/officeDocument/2006/relationships/notesMaster" Target="/ppt/notesMasters/notesMaster1.xml" Id="Rced6d0470d1140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c98478e0ae453b" /><Relationship Type="http://schemas.openxmlformats.org/officeDocument/2006/relationships/notesMaster" Target="/ppt/notesMasters/notesMaster1.xml" Id="R0d93c6827c5c42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3e9cc268974101" /><Relationship Type="http://schemas.openxmlformats.org/officeDocument/2006/relationships/notesMaster" Target="/ppt/notesMasters/notesMaster1.xml" Id="R360af9522be44f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5523c27c974016" /><Relationship Type="http://schemas.openxmlformats.org/officeDocument/2006/relationships/notesMaster" Target="/ppt/notesMasters/notesMaster1.xml" Id="Rf3925d3c7d1648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4ef273a2234c41" /><Relationship Type="http://schemas.openxmlformats.org/officeDocument/2006/relationships/notesMaster" Target="/ppt/notesMasters/notesMaster1.xml" Id="R8661f5b20fb745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b2c89a5d1d645f8" /><Relationship Type="http://schemas.openxmlformats.org/officeDocument/2006/relationships/notesMaster" Target="/ppt/notesMasters/notesMaster1.xml" Id="R8b085c939ec54f0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9dc8c1e6d24d42" /><Relationship Type="http://schemas.openxmlformats.org/officeDocument/2006/relationships/notesMaster" Target="/ppt/notesMasters/notesMaster1.xml" Id="R47612e43a885404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0a76931c4344497" /><Relationship Type="http://schemas.openxmlformats.org/officeDocument/2006/relationships/notesMaster" Target="/ppt/notesMasters/notesMaster1.xml" Id="Rcdc9297b88f34a0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14ab4b85ec44323" /><Relationship Type="http://schemas.openxmlformats.org/officeDocument/2006/relationships/notesMaster" Target="/ppt/notesMasters/notesMaster1.xml" Id="R21a9f3fa431b4f4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98731dd86e4b04" /><Relationship Type="http://schemas.openxmlformats.org/officeDocument/2006/relationships/notesMaster" Target="/ppt/notesMasters/notesMaster1.xml" Id="R699879cb16cf4ea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5509d753de146d2" /><Relationship Type="http://schemas.openxmlformats.org/officeDocument/2006/relationships/notesMaster" Target="/ppt/notesMasters/notesMaster1.xml" Id="R2786656429d2413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9119839f2024487" /><Relationship Type="http://schemas.openxmlformats.org/officeDocument/2006/relationships/notesMaster" Target="/ppt/notesMasters/notesMaster1.xml" Id="R2210889eef3b416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a6839fab213403c" /><Relationship Type="http://schemas.openxmlformats.org/officeDocument/2006/relationships/notesMaster" Target="/ppt/notesMasters/notesMaster1.xml" Id="Rbb93a4f503654f6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604fe43271846f3" /><Relationship Type="http://schemas.openxmlformats.org/officeDocument/2006/relationships/notesMaster" Target="/ppt/notesMasters/notesMaster1.xml" Id="R94b7d225ed9744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902118c55c49b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628861159b741a7" /><Relationship Type="http://schemas.openxmlformats.org/officeDocument/2006/relationships/slideLayout" Target="/ppt/slideLayouts/slideLayout2.xml" Id="Ra97aeac1ddec43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7aeac1ddec43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ac965b27584d4d" /><Relationship Type="http://schemas.openxmlformats.org/officeDocument/2006/relationships/notesSlide" Target="/ppt/notesSlides/notesSlide1.xml" Id="Rbc3c99fd64b743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0ab6456919483e" /><Relationship Type="http://schemas.openxmlformats.org/officeDocument/2006/relationships/notesSlide" Target="/ppt/notesSlides/notesSlide2.xml" Id="R2031e313669f49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8b373a19144865" /><Relationship Type="http://schemas.openxmlformats.org/officeDocument/2006/relationships/notesSlide" Target="/ppt/notesSlides/notesSlide3.xml" Id="R70104742675149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95027f5018449e" /><Relationship Type="http://schemas.openxmlformats.org/officeDocument/2006/relationships/notesSlide" Target="/ppt/notesSlides/notesSlide4.xml" Id="Rae44a8768adc4c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7115678ec7451c" /><Relationship Type="http://schemas.openxmlformats.org/officeDocument/2006/relationships/notesSlide" Target="/ppt/notesSlides/notesSlide5.xml" Id="R4672e53208a947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9b88c3144e42ec" /><Relationship Type="http://schemas.openxmlformats.org/officeDocument/2006/relationships/notesSlide" Target="/ppt/notesSlides/notesSlide6.xml" Id="R5b2d58a25b234b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ffb968775d4629" /><Relationship Type="http://schemas.openxmlformats.org/officeDocument/2006/relationships/notesSlide" Target="/ppt/notesSlides/notesSlide7.xml" Id="R0a254b265b3047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1ff38da2414ba7" /><Relationship Type="http://schemas.openxmlformats.org/officeDocument/2006/relationships/notesSlide" Target="/ppt/notesSlides/notesSlide8.xml" Id="Rbae9b8dfb81745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02340a61c5409c" /><Relationship Type="http://schemas.openxmlformats.org/officeDocument/2006/relationships/notesSlide" Target="/ppt/notesSlides/notesSlide9.xml" Id="Ra0e2b09bea0545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c5fec91b0245be" /><Relationship Type="http://schemas.openxmlformats.org/officeDocument/2006/relationships/notesSlide" Target="/ppt/notesSlides/notesSlide10.xml" Id="Read06ca45a574c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59b90122c74e24" /><Relationship Type="http://schemas.openxmlformats.org/officeDocument/2006/relationships/notesSlide" Target="/ppt/notesSlides/notesSlide11.xml" Id="R1bf55dae989147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0982b7176c4b2e" /><Relationship Type="http://schemas.openxmlformats.org/officeDocument/2006/relationships/notesSlide" Target="/ppt/notesSlides/notesSlide12.xml" Id="Rb0a5fc65e6da41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1f1fdc81944379" /><Relationship Type="http://schemas.openxmlformats.org/officeDocument/2006/relationships/notesSlide" Target="/ppt/notesSlides/notesSlide13.xml" Id="R6130090fa44f488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c1072908c64a3c" /><Relationship Type="http://schemas.openxmlformats.org/officeDocument/2006/relationships/notesSlide" Target="/ppt/notesSlides/notesSlide14.xml" Id="Rbdcbdcf6d75440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c6a38c87ec4747" /><Relationship Type="http://schemas.openxmlformats.org/officeDocument/2006/relationships/notesSlide" Target="/ppt/notesSlides/notesSlide15.xml" Id="R59a4b008222f4e0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eb41276c724d02" /><Relationship Type="http://schemas.openxmlformats.org/officeDocument/2006/relationships/notesSlide" Target="/ppt/notesSlides/notesSlide16.xml" Id="R2cdd8a3923f74ae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778b71b3a6401f" /><Relationship Type="http://schemas.openxmlformats.org/officeDocument/2006/relationships/notesSlide" Target="/ppt/notesSlides/notesSlide17.xml" Id="Rb5ad2338b82c4cc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5613ec6b2744d1" /><Relationship Type="http://schemas.openxmlformats.org/officeDocument/2006/relationships/notesSlide" Target="/ppt/notesSlides/notesSlide18.xml" Id="R687877bfab39428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176e1311464c7d" /><Relationship Type="http://schemas.openxmlformats.org/officeDocument/2006/relationships/notesSlide" Target="/ppt/notesSlides/notesSlide19.xml" Id="R732281ed4b7a4b4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f8474a7e77499a" /><Relationship Type="http://schemas.openxmlformats.org/officeDocument/2006/relationships/notesSlide" Target="/ppt/notesSlides/notesSlide20.xml" Id="R5b3b75be6d4c4f8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1612FF-F287-4851-BA47-7194071E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82C4B-BB22-459D-9D99-2B50E8CA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8C4D8-C299-40CA-9D9F-186DD495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EDUGRAPH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84861-AE70-45D1-9D28-0C4768AC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01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дипломна робота |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BBA29-64C2-4236-966A-19836342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6858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EduGraph перетворює корпус освітніх документів на семантичний простір пошуку.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41E78-9F28-4CAA-B5FC-A2575B93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6572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AI-система семантичного пошуку в корпусі освітніх документів на основі LLM з інтерактивною графовою навігацією результатів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1ED92-56E8-469C-BE8A-31D1BB97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1333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60E4A-E9DD-48C6-B071-413907C6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Грищенко Ілля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CE10A-324C-4231-9291-1916B6A0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КІ-22-1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7C5EE-FC90-4A58-BBFD-7FE89793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1333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0CE56-11BF-4F2C-B696-BB7148BD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673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123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B381B-C322-4ABD-BC3E-C749774D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911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Комп’ютерна інженерія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416243-9162-4662-BC84-2863CC01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43500"/>
            <a:ext cx="1333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A0AF2-C335-4053-ADC5-19BA825F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673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D22F4-CD28-4DB9-9F84-BD1EFA49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3911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Кременчук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E40318-2AD1-4D4B-B64B-179EBB35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A54A5B-1496-41EF-A7B6-337AA326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Drive</a:t>
            </a:r>
          </a:p>
          <a:p xmlns:a="http://schemas.openxmlformats.org/drawingml/2006/main">
            <a:pPr algn="ctr">
              <a:defRPr sz="210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→ API</a:t>
            </a:r>
          </a:p>
          <a:p xmlns:a="http://schemas.openxmlformats.org/drawingml/2006/main">
            <a:pPr algn="ctr">
              <a:defRPr sz="210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→ Vector DB</a:t>
            </a:r>
          </a:p>
          <a:p xmlns:a="http://schemas.openxmlformats.org/drawingml/2006/main">
            <a:pPr algn="ctr">
              <a:defRPr sz="210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→ Graph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AE75A3-9EBB-4889-872B-ED60D407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F68314-C27A-435F-9D9E-67261DB6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EduGraph | дипломна робота | semantic retrieval over educational documents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0D8A7A-7C9B-4B17-B3AD-59B26A7D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94A3B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532473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0E6214-211E-4502-8E5F-3D3AE53D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251CC-4E2D-4726-B8D9-01D09137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4DE23-9620-4276-9258-A4DDE2C5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А К Т У А Л Ь Н І С Т 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2E49C-898E-46B1-B874-0451F0BC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Проблема не в зберіганні файлів, а в пошуку змісту всередині різнорідних документів.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9ABF2-60D8-4F68-BDF0-5491B7C4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7C02E-1239-4C48-8517-58CC0DA4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EduGraph | дипломна робота | semantic retrieval over educational documents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B943E-6CD2-4FCA-BA7D-7D5A7C66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17508-9472-4412-A72C-5F5A1BEA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9779A-B29D-4B91-AC2E-936A47C0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44AAC-8D44-4001-B16D-E8BE67F2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Корпус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AE8F85-B61E-4DE5-9BFA-5AE69529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28925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Навчальні матеріали розміщені у багатьох папках Google Drive.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28978-3FCD-4EF0-BACA-07F1D065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33625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2435E2-69E9-401E-83FC-46163858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33625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47A599-A5D8-42D2-BBB4-48CA24FB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5050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Формати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F9B424-AD32-4701-812D-C731D34C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28925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PDF, DOCX, TXT, CSV та Google Workspace документи потребують різного читання.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AAC0DF-F2D1-4CEC-A655-C4E993AC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17D8C8-5259-4382-8047-E75AFB64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FCD597-4C7D-4D83-BE6F-9C8A6CA2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338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Пошук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494711-BBAA-4054-92A9-AF87391B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57675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Ключові слова не знаходять змістовно близькі фрагменти, якщо запит сформульовано інакше.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FD33EF-A54F-4315-A3F5-8DAD9210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762375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206B50-6487-4A03-915E-B15B465D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762375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7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444B88-FB97-4813-ACD4-A7D43E90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9338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Довіра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2EEA94-C4EB-46A2-8092-FB4DD05F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257675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Користувачу потрібне не припущення моделі, а перевірний фрагмент і посилання на джерело.</a:t>
            </a:r>
          </a:p>
        </p:txBody>
      </p:sp>
    </p:spTree>
    <p:extLst>
      <p:ext uri="{BB962C8B-B14F-4D97-AF65-F5344CB8AC3E}">
        <p14:creationId xmlns:p14="http://schemas.microsoft.com/office/powerpoint/2010/main" val="12328322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E9BA89-3691-42C9-A682-0B889C51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83D7B-2AF6-43A7-A6EF-D3482D3D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CD083-29A1-4C37-8CE6-34B9CA40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М Е Т А   І   З А В Д А Н Н 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035CE-C579-41CE-BD0C-23442D58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Мета роботи — побудувати повний шлях від синхронізації корпусу до графової навігації результатів.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634D6-E99F-450B-AAC6-10B598A6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596BE-3590-4CF1-95E8-3BE62888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EduGraph | дипломна робота | semantic retrieval over educational documents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A68CE-085D-4FC6-9402-D0EF0597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B59BA-D2EB-45A1-AE62-F9590274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8172D-B5FB-4609-8B4B-97DA9E6F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955BC3-C8C9-4127-B092-61CDA2E9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764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5C400-F5FC-4914-8D1F-270B6652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762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Синхронізувати структуру папок і документів із Google Drive.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37897C-663B-4C72-BCF6-E3BEC569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28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630CF-24A7-46D1-ABAD-FDD6C5F2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764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E6A32-F6CA-4277-8E52-F4CFEA4D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57500"/>
            <a:ext cx="1762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Витягувати текст із різних форматів і відстежувати зміни через hash.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424248-74FB-4711-BD09-44E205F6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28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18A0C4-C430-493B-ACD3-BC12761E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764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F35288-ABEE-43E5-AA31-C53FCB15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57500"/>
            <a:ext cx="1762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Індексувати фрагменти документів за допомогою embeddings.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8795E0-87CE-4448-9B5D-98FF1BFC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28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72E2EC-9878-44C1-BEFA-EAFBD793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764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3D8FD2-87AF-4D49-9613-50CCE9C3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57500"/>
            <a:ext cx="1762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Виконувати семантичний пошук із додатковим reranking.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39F063-D00D-427A-A890-F335A4E3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28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DC87A2-CF61-4916-8DE4-31610994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764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A344D9-59A8-4650-9CBC-9F8DA1C6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57500"/>
            <a:ext cx="1762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Показувати результати як фрагменти першоджерел у графі.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BE3882-E8C7-4C4A-ABB7-0D7B1C76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0"/>
            <a:ext cx="904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Практична цінність: користувач отримує не абстрактну відповідь, а знайдений фрагмент і перехід до оригінального документа.</a:t>
            </a:r>
          </a:p>
        </p:txBody>
      </p:sp>
    </p:spTree>
    <p:extLst>
      <p:ext uri="{BB962C8B-B14F-4D97-AF65-F5344CB8AC3E}">
        <p14:creationId xmlns:p14="http://schemas.microsoft.com/office/powerpoint/2010/main" val="17229095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D1A371-88AA-4FB9-92E7-D9362799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C0D83-6990-4698-89E7-9636890B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2CE5B-1882-4D01-83D8-EA4CA240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К О Р И С Т У В А Ч 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5C3CF-041F-40F9-BB89-9BF41D93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Рольова модель поєднує пошук знань і контроль доступу до освітнього корпусу.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43B4A-93ED-4FD2-A7AF-DFF1122F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78298-509E-4E96-973F-8ED2AD84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EduGraph | дипломна робота | semantic retrieval over educational documents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EFA5F-AA0F-4AF0-8C21-923C2D3D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ACB6E-DE8C-42E8-954E-2793ABF1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333625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E08C8-03D7-452E-82C7-CBE04A8F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2BA2A5-39C9-45F9-A1DB-AECF1A47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4797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41D26-6AAB-4796-A86E-BD1FA5CC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99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Student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BB11E-F291-4A69-9797-B577F160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Пошук матеріалів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E7F669-BDCA-4C50-8C13-E230ED11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0530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Запит → фрагмент → Google Drive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528C3-0EAA-4185-B2B6-DE701424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76500"/>
            <a:ext cx="2333625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979F34-237D-4A34-A3E0-B468DF5D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7241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D9FBAC-A30F-42DD-9111-6605297A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84797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9BC982-4D40-401D-B08C-8E4A5F2C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4099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Teacher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6186B1-BA71-4BDC-A958-03094606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8100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Пошук і заявки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044847-A7D4-41F4-8186-6EA64915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30530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Перегляд заявок, базове керування студентами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443091-2931-4C3E-8D3A-F86797B9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2333625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2711AE-9FD5-4004-A5EE-34836DC4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241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B3B2F0-6031-4924-A6F8-0C9C44EE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4797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980515-1D4A-457F-BB98-AD31106C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099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Admin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13BB54-AFA0-4E5F-8156-7519267E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100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Адміністрування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AB2257-0B50-4A47-9523-2A6DEB87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0530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Користувачі, викладачі, синхронізація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D0C1A7-94C1-44D9-A0A9-489B6B76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76500"/>
            <a:ext cx="2333625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BEB422-855B-40F6-B9F1-57262947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7241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7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CB9E73-C2C7-46EE-A4CA-2B3373FE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84797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E2A8CD-B9B6-4BB1-9824-FA5C9ABD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4099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SuperAdmin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131A00-E979-4F86-907F-5AD07A80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8100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Повний контроль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E463B6-F8EF-4A36-AC3D-4A9DD445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30530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Додаткове керування адміністраторами</a:t>
            </a:r>
          </a:p>
        </p:txBody>
      </p:sp>
    </p:spTree>
    <p:extLst>
      <p:ext uri="{BB962C8B-B14F-4D97-AF65-F5344CB8AC3E}">
        <p14:creationId xmlns:p14="http://schemas.microsoft.com/office/powerpoint/2010/main" val="14326525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C16142-B594-4BEB-9FC4-8EEF6761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394F1-FBFD-4C76-B050-8EC957C2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971B8-8558-4A88-A7F6-D328FD3E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А Р Х І Т Е К Т У Р 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76252-3BBE-4301-B238-6291FE64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Система розділяє UI, доменну оркестрацію та ML-пошук на незалежні компоненти.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02E5B-3885-48BB-B580-5AF12C23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82A5B-1D87-4534-B2D3-21146C45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EduGraph | дипломна робота | semantic retrieval over educational documents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76324-66B6-451E-BB0E-F0584E07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31533-6199-4660-ADA6-CDE521F4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9525">
            <a:solidFill>
              <a:srgbClr val="2D6C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DA749-6FDE-494C-B3E0-68E9F67F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86075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React SPA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D1F4B-F05D-4FBE-BFE6-F8717597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48025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рольова навігація, граф, модальні фрагменти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B562FF-CD19-449A-91D6-10E50216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76500"/>
            <a:ext cx="3333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9525">
            <a:solidFill>
              <a:srgbClr val="168A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91B775-CBBC-4805-9F49-32674B10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4795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ASP.NET Core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4F8D16-32FA-4E65-9747-82F2B6C7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0990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JWT, заявки, Google Drive, SQLite, orchestration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4BFB4-11F0-4367-B33A-67345A1E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146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9525">
            <a:solidFill>
              <a:srgbClr val="C47F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2B5155-222C-4403-BED0-1254174B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67025"/>
            <a:ext cx="1847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FastAPI vector-search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10E84-7179-4677-8314-8DCE7E71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43275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chunking, embeddings, LanceDB, reranking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7CA3A7-96B7-4A14-8EB2-C75AFD71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577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527DD9-75E6-448D-B040-41027710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029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Google Drive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A6F06E-EF00-4FA6-83F5-BA755B03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3911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джерело корпусу документів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14F6B8-A06B-4751-92A6-27215684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1214BD-521D-4D9D-97EF-AB08D192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29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SQLite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35F794-C5A6-4DFB-A7EA-71497968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3911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метадані, користувачі, статуси індексації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8D5691-7CE2-43A6-85C6-7FAA0FFA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2897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98459D-EA86-4947-9604-CC05172B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28975"/>
            <a:ext cx="128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060578-7E6B-47DF-81A8-0B69D3E0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990975"/>
            <a:ext cx="2047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5F1851-016E-4B5A-AFD4-925AC000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90975"/>
            <a:ext cx="1857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0319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BA0364-FD43-46AE-B680-4133276A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CAB93-A72C-49EF-A482-6FA00334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FB756-1E7E-4E4C-AB56-FF9CE5A0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К О Н В Е Є Р   Д А Н И 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3B62A-B5BE-48EB-B947-B16E3A89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Індексація перетворює файлове сховище на пошуковий корпус фрагментів.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5EE26-BE89-4F28-9B27-2F5B9A89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CFE20-8D94-4F42-9A37-F192CA68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EduGraph | дипломна робота | semantic retrieval over educational documents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05060-EA32-49BF-A3CF-B8DD8F44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A52566-FDE7-430E-AE22-DEFC4010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00375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7E4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83BF9-DAC2-442A-9C1E-7B75111F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8135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Drive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C9AA15-FF0D-4E75-81A0-8F5A137F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242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папки та файли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5D6E5-DD89-42D1-9909-83A8EBB6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290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7491B-452F-43FA-AC65-604D9BFB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3909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5F6C01-130E-4B6F-99BB-06EEA2E4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00375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7158C-794B-45C8-A1F8-5B11DB23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18135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Parsing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22B92-A5C6-4AF5-B1FE-1FA4E579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5242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PDF/DOCX/TXT/CSV/Workspace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EBB0A-46AC-4B5E-9B94-43791A41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290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AD6B8-CCD4-41E8-9BE9-43CE28A7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909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A286EF-05F4-4CAD-9797-FB074665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00375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7E4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ACE104-BC0B-4098-8FEB-513EC46A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18135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Hash + 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D868F9-165E-4FA1-B560-ADCFBCCE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5242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зміни й індексація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88F7A3-346C-49AC-9F1D-BC47E50D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4290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473CE-1F7B-43A0-92F3-FD479502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3909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962F4D-B777-4FDB-97A8-9900BCF0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00375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FAF3EE-39BC-4528-9874-7C263D27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18135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Chunking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CD809F-CEE8-4BC5-A0AF-321F03B2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5242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1000 символів + overlap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B495CC-E90E-4242-B35D-F27162EC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290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CD6313-73B7-4701-8F1C-C818EF83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3909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F4F4DE-018D-415C-B34B-332B5285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00375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7E4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BDE02A-C957-4729-9D00-42F99445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18135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Embeddings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053541-EB0F-499E-A807-1130A16A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5242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multilingual-e5-base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4F7FFF-E0A4-4FDA-8922-8FCA2990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4290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DDC1D1-B81C-497B-9259-AFD0E945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3909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60D401-93EC-4371-A7AC-4DDE4562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000375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B8AB8A-95F2-4489-B9A8-AA72008F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18135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LanceDB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09A227-A6A9-4D55-9CBC-04199824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5242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векторний індекс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45ABED-DC63-453B-B57A-9A2524B9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942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Результат pipeline: кожен документ має метадані, hash, статус індексації та набір векторних фрагментів для пошуку.</a:t>
            </a:r>
          </a:p>
        </p:txBody>
      </p:sp>
    </p:spTree>
    <p:extLst>
      <p:ext uri="{BB962C8B-B14F-4D97-AF65-F5344CB8AC3E}">
        <p14:creationId xmlns:p14="http://schemas.microsoft.com/office/powerpoint/2010/main" val="9620894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4EA4F1-7823-47CD-B397-FF7466AA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47EBC-4214-498B-8E06-DB580C6E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2717A-3305-4811-830A-B2F41F32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B A C K E N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4E8CB-7512-4AA0-8736-6274DA90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ASP.NET Core API є control plane для ідентичності, синхронізації та пошуку.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DF234-63DF-401D-BFE7-5DDCFFEA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5C822-8591-42C3-8D60-0E783372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EduGraph | дипломна робота | semantic retrieval over educational documents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CB92F-9F5D-4E01-AB05-AC9BCC28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FDBE2-A2B9-467A-B7F8-B4D5D0FD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E5B40-41CA-42FA-971A-1CAC87EE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00275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Vertical Slice 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A9902-E961-4266-8F0D-A7083AC3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38375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Endpoint, Request/Response, Validator, Handler у межах функції.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D49F73-D969-43CD-A592-CB3D9502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52AB6-6E34-4744-9453-1EF6FA7B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86075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ASP.NET Identity + JWT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BEEB82-63F7-4B05-B1CA-FAB97A97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24175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Хешування паролів, Bearer tokens, role-based policies.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E1979-403C-41D6-A38C-ECFEE1D2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9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353DF-29B1-469E-AA4D-21E44A9C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71875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EF Core + SQLite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833885-A301-4CF0-83E3-D8D56784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09975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Користувачі, заявки, папки, документи, hash, статуси.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E3D0A5-309E-40F0-8857-68759161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957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139750-3243-4DC0-AF12-0BF3BCD0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57675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Google Drive orchestration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369ACC-4C0A-4F27-A8A8-5DE9F67C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95775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Планова і ручна синхронізація, обробка видалених файлів.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4C61F2-3612-4316-9686-ECFB14F3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C6555B-26D4-4F25-8B4B-0D0EBED4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43475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VectorSearch integration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17EC28-4FD1-4C4E-834F-7C353DDE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81575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HTTP-контракт із внутрішнім FastAPI-сервісом.</a:t>
            </a:r>
          </a:p>
        </p:txBody>
      </p:sp>
    </p:spTree>
    <p:extLst>
      <p:ext uri="{BB962C8B-B14F-4D97-AF65-F5344CB8AC3E}">
        <p14:creationId xmlns:p14="http://schemas.microsoft.com/office/powerpoint/2010/main" val="10375557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8A8926-EC65-4D60-BBDB-62908F51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3AADC-97AB-48DD-9508-6649D89A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B964A-6762-41F1-8BBB-4CE8CAF3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Д О М Е Н Н А   М О Д Е Л 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C0AF5-F2C0-41BE-82F0-339D2179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Домен явно фіксує користувачів, документи, папки та життєвий цикл індексації.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7F68C-655A-48F1-800D-CFBDB8AA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76F5B-D18C-4BC8-880D-EB03B306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EduGraph | дипломна робота | semantic retrieval over educational documents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B2E67-0398-4FD8-96C0-92235C09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D2FD5-C1EF-4EE0-BBF9-0A831B44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190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F1DAF-CE05-49D1-B0CE-5983E1CF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Identity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8E6398-8448-4F5E-B57B-9A32A5BF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User</a:t>
            </a:r>
          </a:p>
          <a:p xmlns:a="http://schemas.openxmlformats.org/drawingml/2006/main">
            <a:pPr algn="ctr">
              <a:defRPr sz="142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Role</a:t>
            </a:r>
          </a:p>
          <a:p xmlns:a="http://schemas.openxmlformats.org/drawingml/2006/main">
            <a:pPr algn="ctr">
              <a:defRPr sz="142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SignUpApplication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3AD83-A198-45CF-A654-6E142EB3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7700"/>
            <a:ext cx="1733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B90A25-A2C4-416D-A1E9-1B841E33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81250"/>
            <a:ext cx="2190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E6AF8-F46B-4CEE-AE94-C5E9BBAB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6479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Corpus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50A23-B957-4271-A7AD-416E7AE7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18135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UniversityFolder</a:t>
            </a:r>
          </a:p>
          <a:p xmlns:a="http://schemas.openxmlformats.org/drawingml/2006/main">
            <a:pPr algn="ctr">
              <a:defRPr sz="142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UniversityDocument</a:t>
            </a:r>
          </a:p>
          <a:p xmlns:a="http://schemas.openxmlformats.org/drawingml/2006/main">
            <a:pPr algn="ctr">
              <a:defRPr sz="142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GoogleDriveId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FA1BC0-13C7-4A96-B096-532DE47A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457700"/>
            <a:ext cx="1733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4A305-54CE-4275-9951-096A3216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2190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DBEEC-3E43-4E1E-B55D-6510344D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79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Indexing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9285C7-8181-4B1B-9982-85C3A058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8135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NotIndexed</a:t>
            </a:r>
          </a:p>
          <a:p xmlns:a="http://schemas.openxmlformats.org/drawingml/2006/main">
            <a:pPr algn="ctr">
              <a:defRPr sz="142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Indexed</a:t>
            </a:r>
          </a:p>
          <a:p xmlns:a="http://schemas.openxmlformats.org/drawingml/2006/main">
            <a:pPr algn="ctr">
              <a:defRPr sz="142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Failed</a:t>
            </a:r>
          </a:p>
          <a:p xmlns:a="http://schemas.openxmlformats.org/drawingml/2006/main">
            <a:pPr algn="ctr">
              <a:defRPr sz="142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IndexedAt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C6243E-4D42-4AE8-8613-2919861D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57700"/>
            <a:ext cx="1733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B9AF4A-AE21-42D6-9925-E5DA6C82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190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77A596-FDDA-433B-8BF9-2633D025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6479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Access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92713-FB64-45C8-A350-A85AC0B7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18135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Student</a:t>
            </a:r>
          </a:p>
          <a:p xmlns:a="http://schemas.openxmlformats.org/drawingml/2006/main">
            <a:pPr algn="ctr">
              <a:defRPr sz="142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Teacher</a:t>
            </a:r>
          </a:p>
          <a:p xmlns:a="http://schemas.openxmlformats.org/drawingml/2006/main">
            <a:pPr algn="ctr">
              <a:defRPr sz="142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Admin</a:t>
            </a:r>
          </a:p>
          <a:p xmlns:a="http://schemas.openxmlformats.org/drawingml/2006/main">
            <a:pPr algn="ctr">
              <a:defRPr sz="142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SuperAdmin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BFFCF2-45E0-464F-B2BD-163F757E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457700"/>
            <a:ext cx="1733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7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75467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4A4C44-2E92-498F-AA2B-BEC4FAAB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99231-2D0B-4AC3-B3F2-A31F2F28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052C4-921F-4866-88A0-F4BCCBFC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G O O G L E   D R I V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EA3CC-642A-416B-9AF4-8B693FC0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Інтеграція використовує наявну структуру папок як основу пошукового корпусу.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7A521-D71A-4EB4-8340-040299DA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E127C-47CE-4A0A-8CBC-4F7FD461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EduGraph | дипломна робота | semantic retrieval over educational documents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FD138-8020-4A4D-BDEF-21D5D931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56B17-DA74-4D03-B510-208C3CEC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86000"/>
            <a:ext cx="723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7008E-0C09-422C-99EA-BFCFE3BF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622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E4CC1-99AB-4FE7-BE35-8BB5099A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266950"/>
            <a:ext cx="2333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Обхід папок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49632-CAD7-4C7F-A6B3-E4586B58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05050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service account читає дерево Drive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C7094-9FA5-432D-B2E4-39207FB2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00375"/>
            <a:ext cx="723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E9535-4693-4079-9F29-3F0B6DEE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76575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E99652-0B1D-41B0-922C-186DDE3B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81325"/>
            <a:ext cx="2333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Витяг тексту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E3B382-1DCD-4553-9D5E-5402D23E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19425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експорт Workspace, PdfPig, OpenXML, text streams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D35F42-A9E2-4116-BF8F-EAE2B3F3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723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D34DFF-8505-400C-BD96-EC3FE66E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3A007E-31FF-457B-BE14-F3235218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95700"/>
            <a:ext cx="2333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Порівняння hash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1A1770-77F7-461A-B0F4-BD2324BC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33800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змінені документи повторно індексуються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1C9F7D-BBCD-47FC-9894-58FB0809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29125"/>
            <a:ext cx="723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7F37CC-1D45-42A3-81F2-5CCEFA9E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05325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F9EED5-4B50-476F-BAB1-50A5BD16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10075"/>
            <a:ext cx="2333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Видалення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A7C284-E39B-4D8F-8C7C-C7680899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48175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зниклі файли прибираються з БД та vector index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27F4F8-0BCE-4D14-813D-89E68DDA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723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3D7804-BDA2-4D4C-B4D3-1D7DA855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197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7464DE-AE11-4678-AEF8-3FD3BE0F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24450"/>
            <a:ext cx="2333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Фонова робота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E9116C-B2D6-4350-8F4F-4434E235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62550"/>
            <a:ext cx="552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планово кожні 4 години + ручний запуск</a:t>
            </a:r>
          </a:p>
        </p:txBody>
      </p:sp>
    </p:spTree>
    <p:extLst>
      <p:ext uri="{BB962C8B-B14F-4D97-AF65-F5344CB8AC3E}">
        <p14:creationId xmlns:p14="http://schemas.microsoft.com/office/powerpoint/2010/main" val="205895027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F51115-83BA-4FAE-82FE-21CFCD10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3E5B6-D54F-4DB9-AF14-75BD6E27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A3136-3C58-4EA1-8625-1D5BF8F6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V E C T O R   S E A R C 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4643B-C62D-4D13-8F25-FF5FC8BD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Python-сервіс ізолює NLP-навантаження від основного backend.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172E3-EA40-4D22-92E8-4CD9BD83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F43F9-D03E-4C54-ADAB-8F58CC75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EduGraph | дипломна робота | semantic retrieval over educational documents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1E751-7B45-4171-AE4E-140D4DB9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94A3B8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826DB-E87C-4D2D-8570-415AE43E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000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2B863-EB05-4D4E-A20C-2703A948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8154D7-D82A-4F4E-8F35-50272391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FastAPI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49C8F8-E0B8-4C9B-9DF7-4767EAF0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909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внутрішні endpoint-и: health, upsert, delete, 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FD1ED-A3D8-4AB3-A821-D2FF0C02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76500"/>
            <a:ext cx="2000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71A32-93E8-4073-A990-E9747D16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05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81756-9593-4006-8E9A-7F286921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19450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Sentence</a:t>
            </a:r>
          </a:p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Transformer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49EB1-4D6E-4E23-A3B1-DFF5594A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909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intfloat/multilingual-e5-base для багатомовних embeddings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491C71-810E-4A61-9360-9680784A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76500"/>
            <a:ext cx="2000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7B987E-06C7-4B4B-816B-1BD0E9F6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05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4511E5-3880-4293-9A0D-7AC0F9E2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19450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LanceDB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71F6C-7151-445E-B00D-5F052FE4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909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локальна векторна база для chunks документів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7EDFBB-A45C-4598-AD04-6A70BEA1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76500"/>
            <a:ext cx="2000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8569EC-1031-4D4C-98BA-641B7EAE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05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7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892A69-E90F-418B-B6F4-FBAE7BA8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19450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CrossEncoder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FC2A65-147E-42F0-8AB9-6562931D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909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mmarco-mMiniLMv2-L12-H384-v1 для reranking</a:t>
            </a:r>
          </a:p>
        </p:txBody>
      </p:sp>
    </p:spTree>
    <p:extLst>
      <p:ext uri="{BB962C8B-B14F-4D97-AF65-F5344CB8AC3E}">
        <p14:creationId xmlns:p14="http://schemas.microsoft.com/office/powerpoint/2010/main" val="86753576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4D43EC-7A64-4513-83FF-B523110F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C157F-C830-4419-A9CF-28E7BB10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7A457-B4ED-4B25-924F-22C212A8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Я К І С Т Ь   П О Ш У К 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D442C-8F0F-4CA7-BC77-2FA84D12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Двоетапне ранжування поєднує швидкість vector search і точність CrossEncoder.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D70DC-9D76-4400-B0A6-A29380D9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1C027-1A3B-4FEF-A923-C905B249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EduGraph | дипломна робота | semantic retrieval over educational documents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EAFA6-3334-4D2B-8745-B57CB6DE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214592-E820-4ED6-9145-F4E03D45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333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529AC-3FA6-4D74-8D06-8EC3D382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9087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Запит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F258B-2437-4D86-BADD-156667B1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природна мова користувача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6E372-1E1C-44CD-BB93-130FB148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575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40FB0-1E9C-4598-AC51-F2E8F085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00375"/>
            <a:ext cx="14763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285D24-60AA-4B7F-B890-8FD5026B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90875"/>
            <a:ext cx="1209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Embedding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14574A-4BD9-4A2F-BEA1-CFF05D81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24250"/>
            <a:ext cx="1209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query: 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07ED67-EDFA-4596-8643-82541449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4575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C9FD85-EA6A-4F97-8221-F6C741DB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000375"/>
            <a:ext cx="21431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06019C-3F22-49FB-A780-312DC9F8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90875"/>
            <a:ext cx="1876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Candidates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7EEFE7-DC41-4DBC-9987-B4A24380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24250"/>
            <a:ext cx="1876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cosine similarity у LanceDB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69D0BC-EB7C-44F8-AF81-0C031A44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575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E0F521-7CD5-4724-B4BA-EFD59036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0375"/>
            <a:ext cx="2333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F7569E-3CAC-46C3-B10D-6DEDF5FB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90875"/>
            <a:ext cx="2066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Reranking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1135C0-63FD-4BE7-83A9-2DD3EE9E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24250"/>
            <a:ext cx="2066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пара: запит + фрагмент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EC0AB9-0734-40D8-A945-2F8729CE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4575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CFBF27-54D1-4C22-B12B-FDF05B39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000375"/>
            <a:ext cx="171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1ED9E2-40A2-4D24-8236-5658B15E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190875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Top results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7C2863-52CD-4704-ACFA-678B244E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5242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один релевантний chunk на документ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52E100-F7D7-4EC7-881A-CE96FA0E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3870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Перший етап масштабується краще, другий точніше оцінює релевантність. Так система балансує швидкість і якість.</a:t>
            </a:r>
          </a:p>
        </p:txBody>
      </p:sp>
    </p:spTree>
    <p:extLst>
      <p:ext uri="{BB962C8B-B14F-4D97-AF65-F5344CB8AC3E}">
        <p14:creationId xmlns:p14="http://schemas.microsoft.com/office/powerpoint/2010/main" val="175819091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A3116E-4C7A-4913-A561-C96D4CA4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D1967-AC34-4AAD-8991-FCBC87EB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024B7-3322-48B9-B836-A0ABA6E6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F R O N T E N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24EF3-433C-4C2D-A2D7-27D98B40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React-клієнт перетворює API на рольові сценарії користувача.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3BC01-089B-49C0-BF3B-7713EEC5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2F072-84D4-42EC-B715-833C7C7E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EduGraph | дипломна робота | semantic retrieval over educational documents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530B2-031A-407E-8C17-D2476EDD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F2AAC-CC31-41DB-BECF-4A6C934E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0D156-1F47-44D6-B2A8-CA05D6F9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00275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React + TypeScript + Vite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E9732-61B5-46FA-9BC6-17093D45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38375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SPA з централізованою маршрутизацією.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EBC160-1C8A-432B-8655-3269F333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F26DA-C057-4CE2-B31D-295315DB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86075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ProtectedRoute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B2C559-7947-4B8B-9051-3C00DA4D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24175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маршрути відкриваються відповідно до ролі з JWT.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D56922-6805-4654-8CEE-2EC84DAC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99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6FF6B-4802-4117-ACFB-81C9D916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71875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apiFetch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FDAF51-1D24-4899-957B-B2BB7F43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09975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Bearer token, JSON, ProblemDetails, redirect на login.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035017-2C78-4EF0-A47C-704F4337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957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BBEF93-37DA-40F1-ACF8-D7520386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57675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Search page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01AB69-3ED6-40A1-A7EE-A8A0B6DD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95775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запит, loading steps, результати, modal, Drive link.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578841-EE18-4289-A9D3-BAE39023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81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14B37C-001E-4C0A-AD82-43AD0D8E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43475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Admin pages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FBADE3-0523-4C5B-9FF6-D9BC3122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81575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заявки, користувачі, викладачі, адміністратори.</a:t>
            </a:r>
          </a:p>
        </p:txBody>
      </p:sp>
    </p:spTree>
    <p:extLst>
      <p:ext uri="{BB962C8B-B14F-4D97-AF65-F5344CB8AC3E}">
        <p14:creationId xmlns:p14="http://schemas.microsoft.com/office/powerpoint/2010/main" val="173009599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7FAD86-C9EA-475D-882B-E5939E3C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30265-B106-49A5-B025-187E11A6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EF432-98B0-4B4C-962E-272F7567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Г Р А Ф   З Н А Н 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CC5442-8C0A-4F14-8CA3-FD9162FF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Граф показує не тільки релевантність, а й місце документа в структурі корпусу.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D4EED-C11E-475F-9272-318DA205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988F5-8674-4329-8054-6A5B2851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EduGraph | дипломна робота | semantic retrieval over educational documents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26550-9D7E-4467-9B2E-5AA99F10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94A3B8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2637B-4469-48FF-812D-4655383B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909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CB18D8-9311-45C8-B9D0-9BB31EB8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909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CACF72-3FD8-4475-BCC5-2E0D2150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552700"/>
            <a:ext cx="190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11355-64AA-48F7-81F4-2B8E168D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552700"/>
            <a:ext cx="19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6A53A-E54C-4F5B-AEAD-E434C57F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552700"/>
            <a:ext cx="190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42EDE-0974-4D2B-A28B-397AC664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552700"/>
            <a:ext cx="19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819EE-D024-455E-BBD9-887F3301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43275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0EF18-2F9E-44BE-A054-613ADEFA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861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FFDDDC-9F51-4257-8A7C-D342BCBA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95525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2ADB7D-A3B6-4E06-BFA0-3A8C9140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384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Папка 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F656A8-CEAC-40B4-AD9A-57FA510C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95525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5F8031-CDBF-490E-B409-92600DF4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384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Папка 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DEF9FB-B049-45B9-A875-FBE26112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3865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4F8673-FD56-44BD-A334-23FAED3A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53390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Документ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CA9AC6-CB45-4BEE-87A4-C0DD0D4A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1965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6AD5EF-18FF-4EAD-8313-DCDFB82B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91490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Документ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89ADF1-B187-451E-A894-11A62821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2915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E30FF4-EB81-4BE1-B5B3-BB02F330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2440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Документ 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9CFAF3-BF67-4A0D-8288-C6BFD863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6240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BC9D33-FE20-42AE-A23E-368DABAD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576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Документ 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B046A3-FABC-4025-9487-5CD873CE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721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Клік по документу відкриває фрагмент, а посилання веде до оригіналу в Google Drive.</a:t>
            </a:r>
          </a:p>
        </p:txBody>
      </p:sp>
    </p:spTree>
    <p:extLst>
      <p:ext uri="{BB962C8B-B14F-4D97-AF65-F5344CB8AC3E}">
        <p14:creationId xmlns:p14="http://schemas.microsoft.com/office/powerpoint/2010/main" val="72620909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F1116F-95AC-48E2-905C-7E91D8A6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8ED67-3596-4BB6-A5BA-64696EEA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F4087-78D3-4C1E-BB23-C03F4C39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А Д М І Н І С Т Р У В А Н Н 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0BFB13-37A1-4BBF-B98B-E8021268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Заявки на реєстрацію роблять прототип придатним для навчального середовища.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37DAD-0471-4A83-A26A-625B074C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C0FDA-9333-4A10-B004-795C97AE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EduGraph | дипломна робота | semantic retrieval over educational documents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F8B2D-66C7-4EE9-B1A3-8CD9D139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0F7A1-37EC-435E-B65F-247D75AB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8D3FA-CC0A-4D85-B7B3-607164D5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150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Submit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6EDD3-C38F-4804-BA5D-163B40FC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студент або викладач подає заявку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179F2-96A8-4A88-B90E-E7D945DA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718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FEED3-5F78-46E1-8850-D12224CE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2895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6BA63-837E-4A6C-8114-0DE8C2EC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00400"/>
            <a:ext cx="150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Pending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16FD7-85F7-44B4-8104-007425A2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9570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заявка очікує рішення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AD094D-34D7-4359-9C04-B14EA18A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718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960A8-49D8-458A-8623-C2DCEF66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2895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E70554-480D-4CA4-831C-92D3EFF1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00400"/>
            <a:ext cx="150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Approve / Reject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3E78CE-744A-4DF4-83FA-82AC4417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9570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уповноважена роль приймає рішення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7DFF2C-35F3-448E-984B-40EB3CB1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718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0E91D6-4804-4FFF-BE7D-BA4BED84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4ACB21-9378-4AA5-AC11-1ECCABD2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00400"/>
            <a:ext cx="150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Create user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0CEB78-70BC-4814-9A2B-E383C3D2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9570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Identity-користувач отримує роль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F1CE81-F0A7-4649-B35C-2E0CE617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718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0A0AC7-124E-44C3-AE3E-562FF98C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6D6AE8-11DC-4675-92A3-896C52F2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00400"/>
            <a:ext cx="150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Access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CC037E-E3DA-4504-A2AA-2E499778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9570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користувач переходить до дозволених сторінок</a:t>
            </a:r>
          </a:p>
        </p:txBody>
      </p:sp>
    </p:spTree>
    <p:extLst>
      <p:ext uri="{BB962C8B-B14F-4D97-AF65-F5344CB8AC3E}">
        <p14:creationId xmlns:p14="http://schemas.microsoft.com/office/powerpoint/2010/main" val="66031074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3D86A8-3DFF-4DFB-8254-7F6A37A4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9885C-2C80-4DD0-8A7C-936B0DAF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A460C-B769-40D1-BA12-B4F50FD1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A P I - К О Н Т Р А К Т 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EC5CF-C814-4AE8-8055-B1140AA4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Межі між сервісами залишаються малими й зрозумілими.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F01F3-C307-4C71-80E8-B936AE5C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C0562-BD4F-454D-8F22-8068592A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EduGraph | дипломна робота | semantic retrieval over educational documents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D16AE-0DE0-4AAB-A3A1-F38FA09C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51B52-3DDC-4F70-ABD0-825BE2CB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DBA22A-6697-45D9-837E-94FD6887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43175"/>
            <a:ext cx="2333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Frontend →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657AE-DD52-4E35-8DF3-24E5DB9E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2D256-526C-4D97-B2EB-72F76507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14600"/>
            <a:ext cx="676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/api/auth/login, /api/google-drive/search-documents, /api/students, /api/teachers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85C69-E16E-4418-9264-F8EE9C9D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33F23-869D-4888-801D-CCA5B113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81375"/>
            <a:ext cx="2333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API → VectorSearch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A57E2-9FAB-4278-970A-951999FE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194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702930-79DA-49E2-8CC7-A90BAD5A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52800"/>
            <a:ext cx="676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POST /documents/upsert, POST /documents/delete, POST /search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CC7CC3-0479-432D-8A6A-BA2E25D6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9E761-78C8-4C2E-BC3D-FAC77D1D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9575"/>
            <a:ext cx="2333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VectorSearch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4F0E5B-5117-43FB-B96D-373842A7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576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747596-5CBF-47ED-9519-5AB186ED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191000"/>
            <a:ext cx="676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document_id, chunk_id, title, content, url, folder_name, score, rerank_score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4EE0B8-0481-47D6-ACE7-F3A4E1CB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89CF4C-04E7-4C11-AA3C-E3D4C334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57775"/>
            <a:ext cx="2333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API docs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39BC86-8085-49F8-BF03-BF0FC106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958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00A808-4BC3-4947-8391-F8207540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029200"/>
            <a:ext cx="676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OpenAPI / Scalar для перевірки контрактів</a:t>
            </a:r>
          </a:p>
        </p:txBody>
      </p:sp>
    </p:spTree>
    <p:extLst>
      <p:ext uri="{BB962C8B-B14F-4D97-AF65-F5344CB8AC3E}">
        <p14:creationId xmlns:p14="http://schemas.microsoft.com/office/powerpoint/2010/main" val="98122097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A421D7-CE48-4EC6-B72C-526A9408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4EC86-5950-4BE0-9708-85C8C0B4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F0880-CAE1-4CFB-9E7D-C2F54F54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Б Е З П Е К А   І   Е К С П Л У А Т А Ц І 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D0B1A-EC9D-4BE3-AADD-E4B35E0B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Поточна реалізація має базову безпеку прототипу й зрозумілий шлях до production-hardening.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15DB8-EDF3-407A-BAF5-53C7C499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4EFE9-165B-4A0A-B081-239BCA0D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EduGraph | дипломна робота | semantic retrieval over educational documents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BB738-CBB3-4303-BDF9-96A50D7E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24E51-D126-4A17-AD02-38C82E3D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62200"/>
            <a:ext cx="381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Реалізовано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8ABA6-4116-4E63-904D-9177AD0A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051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F5276-BB5B-4AEF-B703-99BFAAE0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384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ASP.NET 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7A9CA-C3D1-48E0-9E85-9D76340D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004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06EE6-2C66-4931-B640-4F330C45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337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JWT Bearer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6346C-08A6-4BCF-8E3F-C93DDF6E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957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C2CCBC-1ED7-451B-8585-E4123E18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Role policies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EC51EB-580D-466A-890C-3758FA11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910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C5110D-82B5-47F2-B400-EB72F979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243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Service account readonly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C16AD9-9DF9-42E5-8271-3E7D5B18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863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337034-B2B0-43CB-BC55-D979C5C8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196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Health/OpenTelemetry hooks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F69083-9B38-427A-989E-4D9E0D53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62200"/>
            <a:ext cx="381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Production-hardening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11C653-3307-4E5F-897F-5E0B967D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051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F90315-B5B4-4CEF-A720-D565699E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384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Refresh tokens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C5300F-0BE6-4F56-992C-4E3C87ED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04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65DE32-98B3-43E3-B58E-D417931B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337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Audit log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6AF4FD-7F54-4601-AE33-3FD4104F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957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2F5109-F7F6-4BBD-8111-372198C5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290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Rate limiting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1D14EC-01C5-4AB3-BEC4-3C025CB2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910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5BC6D9-27B4-4C67-A6E3-109D690A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243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Granular folder permissions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F0E98B-7763-4768-BFB8-1B7F9D72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863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9BA380-2F9A-45E9-AD2A-0E81B571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196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Production database + backups</a:t>
            </a:r>
          </a:p>
        </p:txBody>
      </p:sp>
    </p:spTree>
    <p:extLst>
      <p:ext uri="{BB962C8B-B14F-4D97-AF65-F5344CB8AC3E}">
        <p14:creationId xmlns:p14="http://schemas.microsoft.com/office/powerpoint/2010/main" val="2153460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FC493F-4247-4939-9464-E6748E5C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0172F-0CDE-48D3-8EB0-12FA8598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8366D-6C3E-4CCD-A4B8-91E2A6B5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Р Е З У Л Ь Т А Т   Р Е А Л І З А Ц І 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DD678-B376-4AEC-B058-7B261C6D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Проєкт закриває всі критичні шари: дані, API, ML-пошук і користувацький інтерфейс.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4A958-CFAC-4061-BD1D-E4492DB8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D914E-0EDD-4966-9F57-1A47AFC2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EduGraph | дипломна робота | semantic retrieval over educational documents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A925B-A4BC-408E-9B77-E8F072C0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1FE04-6BB1-4D6C-9D64-26688ADE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952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61037-443E-448F-ACA4-E5E759CC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0A6DB-1F96-42F9-A83A-3B3DC59B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Джерело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D164B-AEA3-458C-A8D0-FED2181F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337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Google Drive folders/documents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C744D-055B-4ED7-B3F5-91A27B93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2952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77952-3762-4881-AC76-0B0F81E2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52330-6450-43F2-9754-223A7E0F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098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Зберігання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DF58B2-E444-44B9-8FD8-58E71871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337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SQLite + EF Core metadata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91FC34-590D-473C-B545-A1DDA590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2952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7D37B-AF74-471A-B384-70528C45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1EF18F-6DCA-4D10-B897-77FE6FFC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098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Пошук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5F19B4-2613-4D72-8DD0-B3B93394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337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FastAPI + LanceDB + models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C5FB3D-55C4-42E0-9675-3F3E00FF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2952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BD0E9B-5C80-4453-97D0-9612FAF3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C60696-8AE4-40F6-B508-50C55A52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Інтерфейс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92A1A1-E267-49CA-BF10-FECE0060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148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React graph 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FC5A94-9215-40C9-98FB-2C8DD011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62375"/>
            <a:ext cx="2952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FF39AE-DD66-470B-A551-CE592EC0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62375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864A8C-3823-427A-AC0D-6E446B39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909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Адміністрування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BD48F8-EDE9-4DA5-BE1C-BE3C7C53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148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roles + applications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518A98-0F4E-4819-8684-B7990B3C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62375"/>
            <a:ext cx="2952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C39F4A-B186-4B6E-9017-F1716544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62375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BE0904-26B2-40CF-A69C-C60AA6C7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909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Документація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CC3062-D997-48FC-AA2C-FAF21BF6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148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OpenAPI/Scalar + дипломний опис</a:t>
            </a:r>
          </a:p>
        </p:txBody>
      </p:sp>
    </p:spTree>
    <p:extLst>
      <p:ext uri="{BB962C8B-B14F-4D97-AF65-F5344CB8AC3E}">
        <p14:creationId xmlns:p14="http://schemas.microsoft.com/office/powerpoint/2010/main" val="146142557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7B759C-A3ED-45B6-A052-AF393E06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D87C5-7AEE-416D-B30F-03063BBF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DAC6A-9A9F-4785-A200-0C34D014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Р И З И К 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1D919-2CF6-4262-8743-F5CE4DDA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Слабкі місця не приховуються: їх потрібно подавати як межі дипломного прототипу.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D16C2-3DAD-4016-B756-131DDCF3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F6814-6871-40AA-9E23-FB7A732B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EduGraph | дипломна робота | semantic retrieval over educational documents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9B946-BD5F-49BC-BB93-ACE94215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467DC-5D27-43EC-8E60-77361ED4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2A11B-F903-47CC-831E-67CE653F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Не генеративний чат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AD763-75FA-4E6C-B70B-7A1A5830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704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Коректно: retrieval-компонент для RAG-підходу.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E43A7-B0EA-4F89-B6A3-B3E5D58F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7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7646A-3141-46B7-A425-AA806D72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SQLite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36721-3A58-4C32-B79C-0061A180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19425"/>
            <a:ext cx="704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Достатньо для прототипу; production може перейти на PostgreSQL/SQL Server.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FF4367-C6AE-43E6-B679-863B0482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FED73-657F-459C-95C7-E294AFD5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localStorage JWT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010468-F8D2-4FA4-BFD9-5E83F08C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05225"/>
            <a:ext cx="704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Практично для SPA; production може перейти на httpOnly cookies + CSP.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4284AC-8D04-4CF1-B604-EEDF7A08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7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CE4D1B-CB1D-4C1F-BBBE-6ACFFE7D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LanceDB локально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36FB39-EDF1-42B4-B05D-9DB5D9C7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04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Потрібні backup, persistent volume і monitoring.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FBF0F0-4ADD-48E5-B720-0F0B405E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AFA1C-D9AA-452A-ABAC-5201488F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2445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Метрики якості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B2B75C-5BA7-41B9-B2EA-4D2AFD22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76825"/>
            <a:ext cx="704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Потрібен тестовий набір для precision, recall, MRR, nDCG.</a:t>
            </a:r>
          </a:p>
        </p:txBody>
      </p:sp>
    </p:spTree>
    <p:extLst>
      <p:ext uri="{BB962C8B-B14F-4D97-AF65-F5344CB8AC3E}">
        <p14:creationId xmlns:p14="http://schemas.microsoft.com/office/powerpoint/2010/main" val="211002786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391215-BA5C-403F-BE6B-29ECB9B7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81954-6B1A-4F81-A581-D4BB5510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F0BF2-300D-46A1-8173-0F99FEDB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Р О З В И Т О 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06B4F-A852-424B-B249-64DF10CC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Наступні кроки мають підсилити вимірюваність, точність доступу й AI-шар.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029B6-D6DB-4A21-B39E-648E0DE2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522D1-F7AD-4497-AF4E-0C025F34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EduGraph | дипломна робота | semantic retrieval over educational documents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576A8-8BEC-401C-8B88-FE71E945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848968-019F-4F32-8DCE-F0EB4CD7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A6304-1956-4F73-A12D-F3416F1C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717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5B2B2-8FE7-44C9-8767-3F4AEF79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241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A38C5-5631-423C-BB2D-A6EF0B48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Оцінювання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FAA66-8077-4AE1-9B75-D889A5F1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1181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test queries, precision/recall/MRR/nDCG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905A23-2F2F-421A-84A9-CCEFFA17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5750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34727A-C049-45A6-8AB8-2A72100C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717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B5B383-8772-4001-B08E-9B40B1E9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241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54180-8E5B-4C3D-9AA9-4588693B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956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Фрагменти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A95449-06B4-4A5D-A5EA-728F8D93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76650"/>
            <a:ext cx="1181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сторінка або координати chunk в оригіналі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531249-888D-48F7-91AC-5F4EA9CA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5750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D843FC-35E8-4DD2-9393-CED6EB35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717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E8983A-B469-4D61-8620-345AA47B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241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878673-DF58-482A-A3BB-59EB54EB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956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Фільтри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2BF142-29CA-4F37-919F-9B895924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76650"/>
            <a:ext cx="1181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папка, тип документа, дата оновлення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607FE3-DD8A-443E-81CD-3B3E3B8C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5750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810083-B260-422B-BBB2-E5E9DF5C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717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7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474C50-F725-41BD-B1A9-4568DD4B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241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0FCBD8-7C3B-4367-8BBE-75BA20C3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956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Права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23742F-85E3-4823-AB52-DDD00BB2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76650"/>
            <a:ext cx="1181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доступ на рівні папок і документів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3FE5C2-1F84-40DD-A895-9A292834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5750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3BAF53-D339-437E-9C8A-1E5BE601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717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D2588E-CFD7-4542-B357-10A3F89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241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4255AD-C5D2-467B-8A0C-221390C5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956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LLM layer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FC1254-CB5C-40A4-AF9F-F4A427AE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76650"/>
            <a:ext cx="1181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генерація відповіді поверх перевірних фрагментів</a:t>
            </a:r>
          </a:p>
        </p:txBody>
      </p:sp>
    </p:spTree>
    <p:extLst>
      <p:ext uri="{BB962C8B-B14F-4D97-AF65-F5344CB8AC3E}">
        <p14:creationId xmlns:p14="http://schemas.microsoft.com/office/powerpoint/2010/main" val="3917627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E90495-B04B-4BCC-B7E9-399163FB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0E392-9895-434D-9EBE-CBC4D254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14D2B-34C7-4EF1-B43E-64CA1426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В И С Н О В К 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3D8CD-CB5E-48B4-B5AC-FDDA72C0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7429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EduGraph демонструє практичну основу для семантичної навігації в освітніх матеріалах.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DB8C5-9CF8-4B93-A3DF-22BCD3C2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C8D0E-3773-494F-BE99-615110EC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4795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Реалізовано наскрізний прототип від Google Drive до графового UI.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B41DC-D4B2-4F02-9362-77CB2790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B53AD-9570-4D91-9041-99D7DE39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85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Пошук базується на transformer embeddings і reranking, а не на простому keyword match.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04CEC-3AA2-4121-B6C0-3697243C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235CD-DE1F-4456-BF24-0A087515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Користувач отримує перевірний фрагмент і посилання на першоджерело.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00856-AF55-4D42-AF7F-B2ACF08C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9D4FF-80D5-4DF5-AECC-982DC1FC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196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Архітектура залишає місце для production-hardening і генеративного RAG-шару.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661BB7-D59F-43B4-A1DE-E05EAB7A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3365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0738D2-2ABA-4448-8CCD-4E366219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0375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Питання</a:t>
            </a:r>
          </a:p>
          <a:p xmlns:a="http://schemas.openxmlformats.org/drawingml/2006/main">
            <a:pPr algn="ctr">
              <a:defRPr sz="2250" b="1">
                <a:solidFill>
                  <a:srgbClr val="F8FAFC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8FAFC"/>
                </a:solidFill>
                <a:latin typeface="Georgia"/>
                <a:ea typeface="Georgia"/>
                <a:cs typeface="Georgia"/>
              </a:rPr>
              <a:t>комісії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D865F-B69D-4FBA-B14B-28807C00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834E25-74D7-49EA-805E-90054142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EduGraph | дипломна робота | semantic retrieval over educational documents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C18C96-9E25-472E-A2A2-1DEAA64A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94A3B8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578029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2026-05-19T23:54:47.1630000Z</dcterms:created>
  <dcterms:modified xsi:type="dcterms:W3CDTF">2026-05-19T23:54:47.1630000Z</dcterms:modified>
</coreProperties>
</file>